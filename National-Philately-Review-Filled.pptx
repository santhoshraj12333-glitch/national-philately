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5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5" d="100"/>
          <a:sy n="105" d="100"/>
        </p:scale>
        <p:origin x="79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764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Relationship Id="rId4" Type="http://schemas.openxmlformats.org/officeDocument/2006/relationships/image" Target="../media/image1.jpg"/><Relationship Id="rId5" Type="http://schemas.openxmlformats.org/officeDocument/2006/relationships/image" Target="../media/image6.jpg"/><Relationship Id="rId6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This Review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8144" y="1700059"/>
            <a:ext cx="5029200" cy="3713907"/>
          </a:xfrm>
          <a:prstGeom prst="roundRect">
            <a:avLst>
              <a:gd name="adj" fmla="val 1778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71600" y="2130643"/>
            <a:ext cx="4572000" cy="281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(Functional &amp; Non-Functional)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System Architecture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&amp; ER Diagrams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 &amp; Tech Stack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Design, Frontend &amp; Backend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API Integration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Real-Stamp Data Pipeline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(100%), Screenshots &amp; Challenges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&amp; Non-Functional Requirements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registration, login and JWT sessions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dashboards: Admin vs Collector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feature: browse, search and manage the stamp catalogue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 CRUD via REST APIs (admin only) + image upload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 &amp; sort: text, year, decade, range, country, category, theme, series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Community: posts, likes, comments, follows, private profiles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and 10 auto-earned achievements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Gaps + Stamp Passport computed live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catalogue queries answered in well under 2 seconds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Scalability: stateless API, Mongo indexes on hot fields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bcrypt hashing, JWT, adminOnly role middleware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Usability: responsive Tailwind UI, mobile bottom navigation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Availability: MongoDB with a restorable seed (npm run seed)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Maintainability: MVC code, shared taxonomy, no runtime third-party APIs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Testability: 203 API checks, 11 UI flows, 14 browser checks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(Detailed)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8016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TIER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Vite, Context API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Axios, React Router, Tailwind CSS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StampArt SVG fallback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61772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0060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TIER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4 REST API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Middleware: protect, adminOnly, taxonomy validation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image upload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13816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1B2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TIER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 ODM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models, indexes, seeded catalogue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requests flow from the browser, through Express routes and middleware, to MongoDB - JSON responses and stamp images return along the same path.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97280" y="525780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25880" y="525780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path: admin posts a base64 data URL -&gt; magic-byte check -&gt; file in server/public/stamps -&gt; read-only /api/stamps/files. External calls happen only at build time in scripts/fetch-stamps.js (Wikimedia Commons); the running app never calls a third-party API.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280160" y="34747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Actors: Visitor, Collector, Admin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is open without login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write (collect, post, CRUD) &lt;&lt;include&gt;&gt; authenticate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edit stamp &lt;&lt;include&gt;&gt; taxonomy validation (400 on bad category, theme or country)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Admin-only routes sit behind the adminOnly middleware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gaps / passport &lt;&lt;extend&gt;&gt; the collection feature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  <p:sp>
        <p:nvSpPr>
          <p:cNvPr id="14" name="Rounded Rectangle 13"/>
          <p:cNvSpPr/>
          <p:nvPr/>
        </p:nvSpPr>
        <p:spPr>
          <a:xfrm>
            <a:off x="1325880" y="2066543"/>
            <a:ext cx="1371600" cy="438912"/>
          </a:xfrm>
          <a:prstGeom prst="roundRect">
            <a:avLst/>
          </a:prstGeom>
          <a:solidFill>
            <a:srgbClr val="00A896"/>
          </a:solidFill>
          <a:ln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25880" y="217627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Visitor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2281427"/>
            <a:ext cx="228600" cy="109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0" y="2011679"/>
            <a:ext cx="10972" cy="548639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063240" y="1874519"/>
            <a:ext cx="379476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154680" y="1915667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B2A2E"/>
                </a:solidFill>
                <a:latin typeface="Calibri"/>
              </a:rPr>
              <a:t>Browse and search stamps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1997963"/>
            <a:ext cx="137160" cy="109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063240" y="2148839"/>
            <a:ext cx="379476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154680" y="2189987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B2A2E"/>
                </a:solidFill>
                <a:latin typeface="Calibri"/>
              </a:rPr>
              <a:t>View stamp detail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2272283"/>
            <a:ext cx="137160" cy="109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063240" y="2423160"/>
            <a:ext cx="379476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154680" y="246430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B2A2E"/>
                </a:solidFill>
                <a:latin typeface="Calibri"/>
              </a:rPr>
              <a:t>Filter by country, year, category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2546604"/>
            <a:ext cx="137160" cy="109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325880" y="3346704"/>
            <a:ext cx="1371600" cy="438912"/>
          </a:xfrm>
          <a:prstGeom prst="roundRect">
            <a:avLst/>
          </a:prstGeom>
          <a:solidFill>
            <a:srgbClr val="00A896"/>
          </a:solidFill>
          <a:ln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325880" y="345643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Collector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97480" y="3561588"/>
            <a:ext cx="228600" cy="109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26080" y="3017520"/>
            <a:ext cx="10972" cy="10972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063240" y="2880360"/>
            <a:ext cx="379476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154680" y="292150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B2A2E"/>
                </a:solidFill>
                <a:latin typeface="Calibri"/>
              </a:rPr>
              <a:t>Register / login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3003804"/>
            <a:ext cx="137160" cy="109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063240" y="3154679"/>
            <a:ext cx="379476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154680" y="3195827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B2A2E"/>
                </a:solidFill>
                <a:latin typeface="Calibri"/>
              </a:rPr>
              <a:t>Build a collection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0" y="3278124"/>
            <a:ext cx="137160" cy="109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063240" y="3429000"/>
            <a:ext cx="379476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154680" y="347014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B2A2E"/>
                </a:solidFill>
                <a:latin typeface="Calibri"/>
              </a:rPr>
              <a:t>Post, like, comment, follow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0" y="3552444"/>
            <a:ext cx="137160" cy="109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063240" y="3703320"/>
            <a:ext cx="379476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154680" y="374446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B2A2E"/>
                </a:solidFill>
                <a:latin typeface="Calibri"/>
              </a:rPr>
              <a:t>View gaps and passport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080" y="3826763"/>
            <a:ext cx="137160" cy="109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063240" y="3977639"/>
            <a:ext cx="379476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154680" y="4018787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B2A2E"/>
                </a:solidFill>
                <a:latin typeface="Calibri"/>
              </a:rPr>
              <a:t>Manage settings and privacy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26080" y="4101083"/>
            <a:ext cx="137160" cy="109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5880" y="4764023"/>
            <a:ext cx="1371600" cy="438912"/>
          </a:xfrm>
          <a:prstGeom prst="roundRect">
            <a:avLst/>
          </a:prstGeom>
          <a:solidFill>
            <a:srgbClr val="00A896"/>
          </a:solidFill>
          <a:ln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325880" y="4873751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97480" y="4978907"/>
            <a:ext cx="228600" cy="109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926080" y="4572000"/>
            <a:ext cx="10972" cy="822959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063240" y="4434840"/>
            <a:ext cx="379476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154680" y="447598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B2A2E"/>
                </a:solidFill>
                <a:latin typeface="Calibri"/>
              </a:rPr>
              <a:t>Create, edit, delete stamps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26080" y="4558283"/>
            <a:ext cx="137160" cy="109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3063240" y="4709159"/>
            <a:ext cx="379476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154680" y="4750307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B2A2E"/>
                </a:solidFill>
                <a:latin typeface="Calibri"/>
              </a:rPr>
              <a:t>Upload stamp image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26080" y="4832603"/>
            <a:ext cx="137160" cy="109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063240" y="4983479"/>
            <a:ext cx="379476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3154680" y="5024627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B2A2E"/>
                </a:solidFill>
                <a:latin typeface="Calibri"/>
              </a:rPr>
              <a:t>Manage series, users, posts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26080" y="5106923"/>
            <a:ext cx="137160" cy="109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063240" y="5257800"/>
            <a:ext cx="379476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3154680" y="529894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B2A2E"/>
                </a:solidFill>
                <a:latin typeface="Calibri"/>
              </a:rPr>
              <a:t>View platform stats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26080" y="5381244"/>
            <a:ext cx="137160" cy="109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/ Database Design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280160" y="34747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1:N posts, comments, notifications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N:1 collection N:1 stamp (many-to-many)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N:N follow N:N user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 N:1 country, stamp N:1 series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N:N achievement N:N user via UserAchievement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Referenced, not embedded: counts stay live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index on name, person, description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  <p:sp>
        <p:nvSpPr>
          <p:cNvPr id="14" name="Rounded Rectangle 13"/>
          <p:cNvSpPr/>
          <p:nvPr/>
        </p:nvSpPr>
        <p:spPr>
          <a:xfrm>
            <a:off x="1325880" y="1874519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325880" y="1874519"/>
            <a:ext cx="2743200" cy="310896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417320" y="1938527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53895" y="2276856"/>
            <a:ext cx="2487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B2A2E"/>
                </a:solidFill>
                <a:latin typeface="Calibri"/>
              </a:rPr>
              <a:t>name, username, email, password (hash), role, isPrivate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1874519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4251960" y="1874519"/>
            <a:ext cx="2743200" cy="310896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343400" y="1938527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Collection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9976" y="2276856"/>
            <a:ext cx="2487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B2A2E"/>
                </a:solidFill>
                <a:latin typeface="Calibri"/>
              </a:rPr>
              <a:t>user *, stamp *  (unique pair)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5880" y="3154680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1325880" y="3154680"/>
            <a:ext cx="2743200" cy="310896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417320" y="3218688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Stamp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3557016"/>
            <a:ext cx="2487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B2A2E"/>
                </a:solidFill>
                <a:latin typeface="Calibri"/>
              </a:rPr>
              <a:t>name, category, theme, country *, series *, year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3154680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4251960" y="3154680"/>
            <a:ext cx="2743200" cy="310896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343400" y="3218688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9976" y="3557016"/>
            <a:ext cx="2487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B2A2E"/>
                </a:solidFill>
                <a:latin typeface="Calibri"/>
              </a:rPr>
              <a:t>content, user *, stamp *, likes[]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25880" y="4434840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1325880" y="4434840"/>
            <a:ext cx="2743200" cy="310896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417320" y="4498848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Follow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53895" y="4837176"/>
            <a:ext cx="2487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B2A2E"/>
                </a:solidFill>
                <a:latin typeface="Calibri"/>
              </a:rPr>
              <a:t>follower *, following *  (unique pair)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51960" y="4434840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4251960" y="4434840"/>
            <a:ext cx="2743200" cy="310896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343400" y="4498848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mbria"/>
              </a:rPr>
              <a:t>UserAchievement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9976" y="4837176"/>
            <a:ext cx="2487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B2A2E"/>
                </a:solidFill>
                <a:latin typeface="Calibri"/>
              </a:rPr>
              <a:t>user *, achievement *, earnedAt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" y="562356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F8C"/>
                </a:solidFill>
                <a:latin typeface="Calibri"/>
              </a:rPr>
              <a:t>* = foreign key   -   11 models in total (Country, Series, Comment, Notification, Achievement also exist)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Description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32186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Functions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Routes / Pages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Registration, login, JWT sessions, roles, settings, privacy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/login, /register, /settings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Catalogue (core)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Stamp CRUD, taxonomy validation, filters, facets, timeline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/explore, /stamp/:id, /timeline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Countries &amp; Series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explorer, detail with timeline, series detail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/countries, /countries/:iso2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Posts, likes, comments, follows, saved posts, private profiles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/community, /profile/:username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 Intelligence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Gaps by country and series, stamp passport progress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/collection/gaps, /collection/passport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stamps, series, users, posts; image upload; stats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/admin, /admin/stamps, /admin/users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 &amp; Badges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In-app alerts, per-event preferences, 10 achievements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/notifications, profile badges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C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Database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B2A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Express.js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React.js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Library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7824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7824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C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Environment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Tools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43484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(ODM)  -  JWT &amp; bcryptjs (auth/security)  -  Axios (HTTP client)  -  React Router v6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build + Tailwind CSS  -  dotenv configuration  -  VS Code, npm, Git &amp; GitHub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Build-time tooling: scripts/fetch-stamps.js (Wikimedia Commons), e2e-test.js (203 checks), svg-render-test.js, generate-preview.js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Design / Wireframes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280160" y="34747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screens (14)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Landing, Login, Join Free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- continue exploring, trending posts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- filter panel, chips, category tiles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 detail - image, story, attribution, related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Countries, Country detail, Timeline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feed, Create post, Saved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- public and private states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gaps (by series / by country)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 passport - per-country progress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- profile, interests, privacy, notifications, password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- dashboard, users, stamps, posts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Palette: postal teal/navy, Cambria headings, Inter body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  <p:pic>
        <p:nvPicPr>
          <p:cNvPr id="14" name="Picture 13" descr="03-explo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355" y="1929384"/>
            <a:ext cx="2545689" cy="15910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71600" y="3611879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28090"/>
                </a:solidFill>
                <a:latin typeface="Calibri"/>
              </a:rPr>
              <a:t>Explore - filters, chips, category tiles</a:t>
            </a:r>
          </a:p>
        </p:txBody>
      </p:sp>
      <p:pic>
        <p:nvPicPr>
          <p:cNvPr id="16" name="Picture 15" descr="04-stamp-detai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875" y="1929384"/>
            <a:ext cx="2545689" cy="15910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389120" y="3611879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28090"/>
                </a:solidFill>
                <a:latin typeface="Calibri"/>
              </a:rPr>
              <a:t>Stamp detail - image, story, attribution</a:t>
            </a:r>
          </a:p>
        </p:txBody>
      </p:sp>
      <p:pic>
        <p:nvPicPr>
          <p:cNvPr id="18" name="Picture 17" descr="05-gap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0355" y="3986783"/>
            <a:ext cx="2545689" cy="15910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71600" y="5669279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28090"/>
                </a:solidFill>
                <a:latin typeface="Calibri"/>
              </a:rPr>
              <a:t>Collection gaps</a:t>
            </a:r>
          </a:p>
        </p:txBody>
      </p:sp>
      <p:pic>
        <p:nvPicPr>
          <p:cNvPr id="20" name="Picture 19" descr="06-passpor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7875" y="3986783"/>
            <a:ext cx="2545689" cy="159105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389120" y="5669279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28090"/>
                </a:solidFill>
                <a:latin typeface="Calibri"/>
              </a:rPr>
              <a:t>Stamp passport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functional components and hooks, React Router v6 with 14 guarded routes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set: Navbar, Footer, StampCard, StampImage, PostCard, CommentSection, CollectionGrid, AchievementBadge, Modal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via Context API - token in localStorage, Axios attaches the bearer token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Two-art layer: real scan in StampImage when stamp.image exists, otherwise deterministic StampArt SVG (hashed from name + year)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links: country / year / series query params arrive from Gaps, Passport, Country Detail and Stamp Detail as dismissible chips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Tailwind layout with bottom navigation on mobile; production build passes (130 modules, ~340 kB JS)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screens: Landing, Login, Register, Home, Explore, Stamp detail, Countries, Country detail, Timeline, Community, Profile, Gaps, Passport, Settings, Admin.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4 server in MVC layout: routes -&gt; middleware -&gt; controllers -&gt; models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controllers, 11 models, one route file per resource; env config through dotenv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Middleware: protect (JWT), adminOnly (403), centralised error handler carrying status codes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taxonomy.js validates category, theme and region on every write - invalid values return 400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server-side across name, person, theme, description, story and countryName with escaped regex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 without extra dependencies: base64 data URL, magic-byte check, 4 MB cap, read-only static mount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compose: country (name / ISO-2), exact year, decade, from-to range, category, theme, series, sort and countOnly.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Integration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MongoDB database national_philately, Mongoose schemas for each of the 11 collections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Collections: User, Country, Series, Stamp, Collection, Post, Comment, Follow, Notification, Achievement, UserAchievement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via referencing: Stamp -&gt; Country, Stamp -&gt; Series, Collection -&gt; User + Stamp, Post -&gt; Comment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Indexes: text (name, person, description), category+theme, year, series+seriesNumber, viewCount desc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compound keys on Follow and UserAchievement so badges can never be granted twice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data: 12 countries, 7 series, 59 stamps, 6 users, 10 posts, 26 collection items, 18 earned badges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loads data/stamps.json (the resolved Wikimedia catalogue) and fails if any image file is missing - a broken catalogue cannot ship.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40233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/api/auth/register, /api/auth/login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account / issue JWT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/api/stamps?search=&amp;year=&amp;category=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Catalogue with composable filters, sort, countOnly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/api/stamps/facets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 categories, themes and years for the filter 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/api/stamps/:id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Stamp detail with country and series populated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 PUT / 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/api/stamps[/:id]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CRUD, taxonomy validation (400 on bad input)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/api/stamps/upload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Base64 image -&gt; file, returns /api/stamps/files url (admin)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/api/collection/gaps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stamps grouped by country and by series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/api/collection/passport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Per-country progress, percent, category coverage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/api/users/:username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Profile, collection, posts, achievements, follow 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/api/admin/stats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Totals for the admin dashboard (admin only)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Module-wise Implementation Status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8288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88366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88366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149840" y="18288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4505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 (14 screens)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2505456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505456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149840" y="245059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0723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3127248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3127248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149840" y="307238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6941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3749040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3749040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149840" y="369417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3159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 + Image Upload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4370832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4370832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149840" y="43159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937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(in-app)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0" y="499262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4992624"/>
            <a:ext cx="466344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149840" y="49377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600200"/>
            <a:ext cx="4846320" cy="22402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97280" y="35661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4846320" cy="22402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217920" y="35661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- filters and results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3886200"/>
            <a:ext cx="4846320" cy="22402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1097280" y="58521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- stamps with images and upload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886200"/>
            <a:ext cx="4846320" cy="22402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6217920" y="58521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 detail - image and attribution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  <p:pic>
        <p:nvPicPr>
          <p:cNvPr id="17" name="Picture 16" descr="01-land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715" y="1655064"/>
            <a:ext cx="2911449" cy="1819656"/>
          </a:xfrm>
          <a:prstGeom prst="rect">
            <a:avLst/>
          </a:prstGeom>
        </p:spPr>
      </p:pic>
      <p:pic>
        <p:nvPicPr>
          <p:cNvPr id="18" name="Picture 17" descr="03-explo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5355" y="1655064"/>
            <a:ext cx="2911449" cy="1819656"/>
          </a:xfrm>
          <a:prstGeom prst="rect">
            <a:avLst/>
          </a:prstGeom>
        </p:spPr>
      </p:pic>
      <p:pic>
        <p:nvPicPr>
          <p:cNvPr id="19" name="Picture 18" descr="09-admin-stamp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4715" y="3941064"/>
            <a:ext cx="2911449" cy="1819656"/>
          </a:xfrm>
          <a:prstGeom prst="rect">
            <a:avLst/>
          </a:prstGeom>
        </p:spPr>
      </p:pic>
      <p:pic>
        <p:nvPicPr>
          <p:cNvPr id="20" name="Picture 19" descr="04-stamp-detail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5355" y="3941064"/>
            <a:ext cx="2911449" cy="18196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&amp; Solutions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3968496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Adopted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Wikimedia rate-limited the 59 image downloads (HTTP 429, 10-minute ban)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Honour Retry-After with capped backoff, then skip and resume: re-runs only fetch the stragglers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 badges could be granted twice under parallel requests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compound indexes on Follow / UserAchievement plus a parallel-unlock test asserting one row per badge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Deep-link filters (year + decade, country + year) silently returned partial results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query builder that merges year modes and returns an empty set instead of a wrong 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upload without adding a multer dependency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Base64 data URL endpoint with magic-byte detection, 4 MB cap and read-only static file serving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Catalogue size hardcoded in tests broke every time stamps were added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derive expected counts from data/stamps.json and probe every image over HTTP 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stamp must never render as a broken image box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StampImage falls back to the deterministic StampArt SVG; seed fails loudly if an image file is missing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Work &amp; Plan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 for achievements and follows (in-app notifications are complete)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uploads for community posts (stamps already support upload)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Refresh-token flow instead of re-login when the JWT expires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Render / Railway for the API, Netlify / Vercel for the client, MongoDB Atlas for data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pass: focus states, aria labels, colour contrast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and user-acceptance testing with real collectors, then final documentation and demo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94436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MongoDB, Express.js, React and Node.js - official documentation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Mongoose ODM guides: schema design, indexes and populated relations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Web Token (RFC 7519) and bcryptjs password hashing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Wikimedia Commons API, image reuse and licence pages for every catalogue entry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Router v6, Context API, Vite and Tailwind CSS documentation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README: install, seed, test and data-pipeline instructions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1161</Words>
  <Application>Microsoft Office PowerPoint</Application>
  <PresentationFormat>Widescreen</PresentationFormat>
  <Paragraphs>276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 lakshmi</cp:lastModifiedBy>
  <cp:revision>2</cp:revision>
  <dcterms:created xsi:type="dcterms:W3CDTF">2026-09-22T17:17:28Z</dcterms:created>
  <dcterms:modified xsi:type="dcterms:W3CDTF">2026-09-28T03:29:44Z</dcterms:modified>
</cp:coreProperties>
</file>